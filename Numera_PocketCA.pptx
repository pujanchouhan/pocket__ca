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4206240"/>
            <a:ext cx="4754880" cy="4754880"/>
          </a:xfrm>
          <a:prstGeom prst="ellipse">
            <a:avLst/>
          </a:prstGeom>
          <a:solidFill>
            <a:srgbClr val="012A2E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5120640"/>
            <a:ext cx="2926080" cy="2926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10515600" y="5852160"/>
            <a:ext cx="1463040" cy="14630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NUMERA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Accounting Assistant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68680" y="3429000"/>
            <a:ext cx="1280160" cy="4114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611880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F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financial insights from real, computed numbers — built with Streamlit and Google Gemini, at zero cost.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5394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</a:t>
            </a:r>
            <a:pPr indent="0" marL="0">
              <a:buNone/>
            </a:pPr>
            <a:r>
              <a:rPr lang="en-US" sz="1300" dirty="0">
                <a:solidFill>
                  <a:srgbClr val="CF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Pocket CA (Numera)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5715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Author: </a:t>
            </a:r>
            <a:pPr indent="0" marL="0">
              <a:buNone/>
            </a:pPr>
            <a:r>
              <a:rPr lang="en-US" sz="1300" dirty="0">
                <a:solidFill>
                  <a:srgbClr val="CF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pujanchouhan  ·  Generative AI Course  ·  27 July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Numbers without narrative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035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4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people can export a bank statement, but few can turn it into a clear answer to “where is my money going?” Spreadsheets show rows of transactions — not insight. And generic chatbots answer finance questions by guessing, with no real data behind the reply.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0" cy="0"/>
          </a:xfrm>
          <a:prstGeom prst="ellipse">
            <a:avLst/>
          </a:prstGeom>
          <a:solidFill>
            <a:srgbClr val="F2F8F7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600200"/>
            <a:ext cx="0" cy="0"/>
          </a:xfrm>
          <a:prstGeom prst="ellipse">
            <a:avLst/>
          </a:prstGeom>
          <a:solidFill>
            <a:srgbClr val="F2F8F7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600200"/>
            <a:ext cx="0" cy="0"/>
          </a:xfrm>
          <a:prstGeom prst="ellipse">
            <a:avLst/>
          </a:prstGeom>
          <a:solidFill>
            <a:srgbClr val="F2F8F7"/>
          </a:solidFill>
          <a:ln/>
        </p:spPr>
      </p:sp>
      <p:sp>
        <p:nvSpPr>
          <p:cNvPr id="8" name="Shape 6"/>
          <p:cNvSpPr/>
          <p:nvPr/>
        </p:nvSpPr>
        <p:spPr>
          <a:xfrm>
            <a:off x="7040880" y="1508760"/>
            <a:ext cx="566928" cy="566928"/>
          </a:xfrm>
          <a:prstGeom prst="ellipse">
            <a:avLst/>
          </a:prstGeom>
          <a:solidFill>
            <a:srgbClr val="F2F8F7"/>
          </a:solidFill>
          <a:ln/>
        </p:spPr>
      </p:sp>
      <p:sp>
        <p:nvSpPr>
          <p:cNvPr id="9" name="Shape 7"/>
          <p:cNvSpPr/>
          <p:nvPr/>
        </p:nvSpPr>
        <p:spPr>
          <a:xfrm>
            <a:off x="7182612" y="1616476"/>
            <a:ext cx="283464" cy="351495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33636" y="1714895"/>
            <a:ext cx="181417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33636" y="1774649"/>
            <a:ext cx="181417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33636" y="1834403"/>
            <a:ext cx="181417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18120" y="147218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exports, no story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818120" y="1801368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CSV/XLSX statements pile up with no summary or trend.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040880" y="2743200"/>
            <a:ext cx="566928" cy="566928"/>
          </a:xfrm>
          <a:prstGeom prst="ellipse">
            <a:avLst/>
          </a:prstGeom>
          <a:solidFill>
            <a:srgbClr val="F2F8F7"/>
          </a:solidFill>
          <a:ln/>
        </p:spPr>
      </p:sp>
      <p:sp>
        <p:nvSpPr>
          <p:cNvPr id="16" name="Shape 14"/>
          <p:cNvSpPr/>
          <p:nvPr/>
        </p:nvSpPr>
        <p:spPr>
          <a:xfrm>
            <a:off x="7176943" y="2896271"/>
            <a:ext cx="294803" cy="215433"/>
          </a:xfrm>
          <a:prstGeom prst="roundRect">
            <a:avLst>
              <a:gd name="adj" fmla="val 25467"/>
            </a:avLst>
          </a:prstGeom>
          <a:solidFill>
            <a:srgbClr val="028090"/>
          </a:solidFill>
          <a:ln/>
        </p:spPr>
      </p:sp>
      <p:sp>
        <p:nvSpPr>
          <p:cNvPr id="17" name="Shape 15"/>
          <p:cNvSpPr/>
          <p:nvPr/>
        </p:nvSpPr>
        <p:spPr>
          <a:xfrm rot="10800000">
            <a:off x="7259487" y="3056825"/>
            <a:ext cx="64857" cy="60321"/>
          </a:xfrm>
          <a:prstGeom prst="triangl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7818120" y="270662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Guessing chatbots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818120" y="3035808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AI answers finance questions without real figures.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040880" y="3977640"/>
            <a:ext cx="566928" cy="566928"/>
          </a:xfrm>
          <a:prstGeom prst="ellipse">
            <a:avLst/>
          </a:prstGeom>
          <a:solidFill>
            <a:srgbClr val="F2F8F7"/>
          </a:solidFill>
          <a:ln/>
        </p:spPr>
      </p:sp>
      <p:sp>
        <p:nvSpPr>
          <p:cNvPr id="21" name="Shape 19"/>
          <p:cNvSpPr/>
          <p:nvPr/>
        </p:nvSpPr>
        <p:spPr>
          <a:xfrm>
            <a:off x="7199620" y="4283781"/>
            <a:ext cx="68031" cy="102047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2" name="Shape 20"/>
          <p:cNvSpPr/>
          <p:nvPr/>
        </p:nvSpPr>
        <p:spPr>
          <a:xfrm>
            <a:off x="7290328" y="4193073"/>
            <a:ext cx="68031" cy="19275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3" name="Shape 21"/>
          <p:cNvSpPr/>
          <p:nvPr/>
        </p:nvSpPr>
        <p:spPr>
          <a:xfrm>
            <a:off x="7381037" y="4102364"/>
            <a:ext cx="68031" cy="2834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7818120" y="394106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visual picture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818120" y="4270248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see category, merchant, or monthly trends at a glance.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Numera  ·  Pocket CA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your finances a question. Get a grounded answer.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F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Numera pairs pandas-computed statistics with Google's free Gemini API. Every number the assistant states is pulled from your uploaded transactions first — the model narrates data, it doesn't invent it.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22960" y="292608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1152144" y="3182112"/>
            <a:ext cx="256032" cy="219456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1234440" y="3364992"/>
            <a:ext cx="91440" cy="201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" y="3621024"/>
            <a:ext cx="438912" cy="640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395020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data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28600" y="42976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D3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/ XLSX or sample data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847088" y="3383280"/>
            <a:ext cx="1609344" cy="0"/>
          </a:xfrm>
          <a:prstGeom prst="line">
            <a:avLst/>
          </a:prstGeom>
          <a:noFill/>
          <a:ln w="22225">
            <a:solidFill>
              <a:srgbClr val="00A896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3566160" y="292608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Shape 11"/>
          <p:cNvSpPr/>
          <p:nvPr/>
        </p:nvSpPr>
        <p:spPr>
          <a:xfrm>
            <a:off x="3822192" y="3419856"/>
            <a:ext cx="109728" cy="1645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3968496" y="3273552"/>
            <a:ext cx="109728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4114800" y="3127248"/>
            <a:ext cx="109728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3063240" y="395020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stats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971800" y="42976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D3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builds real totals &amp; trends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90288" y="3383280"/>
            <a:ext cx="1609344" cy="0"/>
          </a:xfrm>
          <a:prstGeom prst="line">
            <a:avLst/>
          </a:prstGeom>
          <a:noFill/>
          <a:ln w="22225">
            <a:solidFill>
              <a:srgbClr val="00A896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6309360" y="292608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Shape 18"/>
          <p:cNvSpPr/>
          <p:nvPr/>
        </p:nvSpPr>
        <p:spPr>
          <a:xfrm>
            <a:off x="6528816" y="3172968"/>
            <a:ext cx="475488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 rot="10800000">
            <a:off x="6661953" y="3431926"/>
            <a:ext cx="104607" cy="97292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5806440" y="395020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chat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715000" y="42976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D3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narrates the computed data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333488" y="3383280"/>
            <a:ext cx="1609344" cy="0"/>
          </a:xfrm>
          <a:prstGeom prst="line">
            <a:avLst/>
          </a:prstGeom>
          <a:noFill/>
          <a:ln w="22225">
            <a:solidFill>
              <a:srgbClr val="00A896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9052560" y="292608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Shape 24"/>
          <p:cNvSpPr/>
          <p:nvPr/>
        </p:nvSpPr>
        <p:spPr>
          <a:xfrm>
            <a:off x="9281160" y="3099816"/>
            <a:ext cx="45720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363456" y="3258556"/>
            <a:ext cx="292608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363456" y="3354934"/>
            <a:ext cx="292608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363456" y="3451311"/>
            <a:ext cx="292608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49640" y="395020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summary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458200" y="42976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D3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+ one-click AI narrative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F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Numera  ·  Pocket CA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Numera actually does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1920240"/>
          </a:xfrm>
          <a:prstGeom prst="roundRect">
            <a:avLst>
              <a:gd name="adj" fmla="val 2857"/>
            </a:avLst>
          </a:prstGeom>
          <a:solidFill>
            <a:srgbClr val="F2F8F7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897941" y="1964588"/>
            <a:ext cx="261518" cy="191110"/>
          </a:xfrm>
          <a:prstGeom prst="roundRect">
            <a:avLst>
              <a:gd name="adj" fmla="val 28708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 rot="10800000">
            <a:off x="971166" y="2107015"/>
            <a:ext cx="57534" cy="53511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441448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AI chat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77240" y="2770632"/>
            <a:ext cx="3154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numeric answer is backed by real computed data — never guessed.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1600200"/>
            <a:ext cx="3611880" cy="1920240"/>
          </a:xfrm>
          <a:prstGeom prst="roundRect">
            <a:avLst>
              <a:gd name="adj" fmla="val 2857"/>
            </a:avLst>
          </a:prstGeom>
          <a:solidFill>
            <a:srgbClr val="F2F8F7"/>
          </a:solidFill>
          <a:ln/>
        </p:spPr>
      </p:sp>
      <p:sp>
        <p:nvSpPr>
          <p:cNvPr id="11" name="Shape 9"/>
          <p:cNvSpPr/>
          <p:nvPr/>
        </p:nvSpPr>
        <p:spPr>
          <a:xfrm>
            <a:off x="4617720" y="18288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Shape 10"/>
          <p:cNvSpPr/>
          <p:nvPr/>
        </p:nvSpPr>
        <p:spPr>
          <a:xfrm>
            <a:off x="4758538" y="2100377"/>
            <a:ext cx="60350" cy="9052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4839005" y="2019910"/>
            <a:ext cx="60350" cy="17099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919472" y="1939442"/>
            <a:ext cx="60350" cy="2514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4617720" y="2441448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dashboard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617720" y="2770632"/>
            <a:ext cx="3154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donut, monthly trend, and top-merchant charts, filterable by period.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29600" y="1600200"/>
            <a:ext cx="3611880" cy="1920240"/>
          </a:xfrm>
          <a:prstGeom prst="roundRect">
            <a:avLst>
              <a:gd name="adj" fmla="val 2857"/>
            </a:avLst>
          </a:prstGeom>
          <a:solidFill>
            <a:srgbClr val="F2F8F7"/>
          </a:solidFill>
          <a:ln/>
        </p:spPr>
      </p:sp>
      <p:sp>
        <p:nvSpPr>
          <p:cNvPr id="18" name="Shape 16"/>
          <p:cNvSpPr/>
          <p:nvPr/>
        </p:nvSpPr>
        <p:spPr>
          <a:xfrm>
            <a:off x="8458200" y="18288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Shape 17"/>
          <p:cNvSpPr/>
          <p:nvPr/>
        </p:nvSpPr>
        <p:spPr>
          <a:xfrm>
            <a:off x="8583930" y="1924355"/>
            <a:ext cx="251460" cy="31181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29193" y="2011662"/>
            <a:ext cx="160934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29193" y="2064669"/>
            <a:ext cx="160934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29193" y="2117677"/>
            <a:ext cx="160934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58200" y="2441448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narrative summaries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458200" y="2770632"/>
            <a:ext cx="3154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generates a plain-English summary, downloadable as Markdown.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794760"/>
            <a:ext cx="3611880" cy="1920240"/>
          </a:xfrm>
          <a:prstGeom prst="roundRect">
            <a:avLst>
              <a:gd name="adj" fmla="val 2857"/>
            </a:avLst>
          </a:prstGeom>
          <a:solidFill>
            <a:srgbClr val="F2F8F7"/>
          </a:solidFill>
          <a:ln/>
        </p:spPr>
      </p:sp>
      <p:sp>
        <p:nvSpPr>
          <p:cNvPr id="26" name="Shape 24"/>
          <p:cNvSpPr/>
          <p:nvPr/>
        </p:nvSpPr>
        <p:spPr>
          <a:xfrm>
            <a:off x="777240" y="40233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7" name="Shape 25"/>
          <p:cNvSpPr/>
          <p:nvPr/>
        </p:nvSpPr>
        <p:spPr>
          <a:xfrm>
            <a:off x="958291" y="4164178"/>
            <a:ext cx="140818" cy="120701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1003554" y="4264762"/>
            <a:ext cx="50292" cy="11064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907999" y="4405579"/>
            <a:ext cx="241402" cy="352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4636008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/ XLSX upload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777240" y="4965192"/>
            <a:ext cx="3154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your own transactions, or use built-in sample data to demo instantly.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389120" y="3794760"/>
            <a:ext cx="3611880" cy="1920240"/>
          </a:xfrm>
          <a:prstGeom prst="roundRect">
            <a:avLst>
              <a:gd name="adj" fmla="val 2857"/>
            </a:avLst>
          </a:prstGeom>
          <a:solidFill>
            <a:srgbClr val="F2F8F7"/>
          </a:solidFill>
          <a:ln/>
        </p:spPr>
      </p:sp>
      <p:sp>
        <p:nvSpPr>
          <p:cNvPr id="33" name="Shape 31"/>
          <p:cNvSpPr/>
          <p:nvPr/>
        </p:nvSpPr>
        <p:spPr>
          <a:xfrm>
            <a:off x="4617720" y="40233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4" name="Shape 32"/>
          <p:cNvSpPr/>
          <p:nvPr/>
        </p:nvSpPr>
        <p:spPr>
          <a:xfrm>
            <a:off x="4748479" y="4154119"/>
            <a:ext cx="241402" cy="241402"/>
          </a:xfrm>
          <a:prstGeom prst="diamond">
            <a:avLst/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4844034" y="4194353"/>
            <a:ext cx="50292" cy="5029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4617720" y="4636008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Auto-categorization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4617720" y="4965192"/>
            <a:ext cx="3154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matching assigns groceries, dining, transport, rent, and more.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229600" y="3794760"/>
            <a:ext cx="3611880" cy="1920240"/>
          </a:xfrm>
          <a:prstGeom prst="roundRect">
            <a:avLst>
              <a:gd name="adj" fmla="val 2857"/>
            </a:avLst>
          </a:prstGeom>
          <a:solidFill>
            <a:srgbClr val="F2F8F7"/>
          </a:solidFill>
          <a:ln/>
        </p:spPr>
      </p:sp>
      <p:sp>
        <p:nvSpPr>
          <p:cNvPr id="39" name="Shape 37"/>
          <p:cNvSpPr/>
          <p:nvPr/>
        </p:nvSpPr>
        <p:spPr>
          <a:xfrm>
            <a:off x="8458200" y="40233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0" name="Shape 38"/>
          <p:cNvSpPr/>
          <p:nvPr/>
        </p:nvSpPr>
        <p:spPr>
          <a:xfrm>
            <a:off x="8568842" y="4174236"/>
            <a:ext cx="281635" cy="20116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1" name="Shape 39"/>
          <p:cNvSpPr/>
          <p:nvPr/>
        </p:nvSpPr>
        <p:spPr>
          <a:xfrm>
            <a:off x="8639251" y="4249674"/>
            <a:ext cx="40234" cy="4023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2" name="Shape 40"/>
          <p:cNvSpPr/>
          <p:nvPr/>
        </p:nvSpPr>
        <p:spPr>
          <a:xfrm>
            <a:off x="8719718" y="4229557"/>
            <a:ext cx="40234" cy="4023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3" name="Shape 41"/>
          <p:cNvSpPr/>
          <p:nvPr/>
        </p:nvSpPr>
        <p:spPr>
          <a:xfrm>
            <a:off x="8790127" y="4264762"/>
            <a:ext cx="40234" cy="4023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8458200" y="4636008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ledger UI</a:t>
            </a:r>
            <a:endParaRPr lang="en-US" sz="1450" dirty="0"/>
          </a:p>
        </p:txBody>
      </p:sp>
      <p:sp>
        <p:nvSpPr>
          <p:cNvPr id="45" name="Text 43"/>
          <p:cNvSpPr/>
          <p:nvPr/>
        </p:nvSpPr>
        <p:spPr>
          <a:xfrm>
            <a:off x="8458200" y="4965192"/>
            <a:ext cx="3154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Hand-built CSS, themed charts, and custom chat avatars — no default look.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Numera  ·  Pocket CA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transactions to a grounded reply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67512" y="2971800"/>
            <a:ext cx="1965960" cy="1417320"/>
          </a:xfrm>
          <a:prstGeom prst="roundRect">
            <a:avLst>
              <a:gd name="adj" fmla="val 3226"/>
            </a:avLst>
          </a:prstGeom>
          <a:solidFill>
            <a:srgbClr val="F2F8F7"/>
          </a:solidFill>
          <a:ln/>
        </p:spPr>
      </p:sp>
      <p:sp>
        <p:nvSpPr>
          <p:cNvPr id="5" name="Shape 3"/>
          <p:cNvSpPr/>
          <p:nvPr/>
        </p:nvSpPr>
        <p:spPr>
          <a:xfrm>
            <a:off x="1284732" y="192024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1548079" y="2125066"/>
            <a:ext cx="204826" cy="175565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1613916" y="2271370"/>
            <a:ext cx="73152" cy="16093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1474927" y="2476195"/>
            <a:ext cx="351130" cy="5120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" y="3090672"/>
            <a:ext cx="18196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58952" y="361188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chat_input / file_uploader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651760" y="2286000"/>
            <a:ext cx="219456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89504" y="2971800"/>
            <a:ext cx="1965960" cy="1417320"/>
          </a:xfrm>
          <a:prstGeom prst="roundRect">
            <a:avLst>
              <a:gd name="adj" fmla="val 3226"/>
            </a:avLst>
          </a:prstGeom>
          <a:solidFill>
            <a:srgbClr val="F2F8F7"/>
          </a:solidFill>
          <a:ln/>
        </p:spPr>
      </p:sp>
      <p:sp>
        <p:nvSpPr>
          <p:cNvPr id="13" name="Shape 11"/>
          <p:cNvSpPr/>
          <p:nvPr/>
        </p:nvSpPr>
        <p:spPr>
          <a:xfrm>
            <a:off x="3506724" y="192024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Shape 12"/>
          <p:cNvSpPr/>
          <p:nvPr/>
        </p:nvSpPr>
        <p:spPr>
          <a:xfrm>
            <a:off x="3711550" y="2315261"/>
            <a:ext cx="87782" cy="13167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3828593" y="2198218"/>
            <a:ext cx="87782" cy="24871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3945636" y="2081174"/>
            <a:ext cx="87782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2962656" y="3090672"/>
            <a:ext cx="18196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data_utils.py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980944" y="361188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pandas: summary, trend, categorization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73752" y="2286000"/>
            <a:ext cx="219456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11496" y="2971800"/>
            <a:ext cx="1965960" cy="1417320"/>
          </a:xfrm>
          <a:prstGeom prst="roundRect">
            <a:avLst>
              <a:gd name="adj" fmla="val 3226"/>
            </a:avLst>
          </a:prstGeom>
          <a:solidFill>
            <a:srgbClr val="F2F8F7"/>
          </a:solidFill>
          <a:ln/>
        </p:spPr>
      </p:sp>
      <p:sp>
        <p:nvSpPr>
          <p:cNvPr id="21" name="Shape 19"/>
          <p:cNvSpPr/>
          <p:nvPr/>
        </p:nvSpPr>
        <p:spPr>
          <a:xfrm>
            <a:off x="5728716" y="192024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Shape 20"/>
          <p:cNvSpPr/>
          <p:nvPr/>
        </p:nvSpPr>
        <p:spPr>
          <a:xfrm>
            <a:off x="5911596" y="2059229"/>
            <a:ext cx="365760" cy="453542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77433" y="2186221"/>
            <a:ext cx="234086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77433" y="2263323"/>
            <a:ext cx="234086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77433" y="2340425"/>
            <a:ext cx="234086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84648" y="3090672"/>
            <a:ext cx="18196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CONTEXT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202936" y="361188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stats injected as JSON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095744" y="2286000"/>
            <a:ext cx="219456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33488" y="2971800"/>
            <a:ext cx="1965960" cy="1417320"/>
          </a:xfrm>
          <a:prstGeom prst="roundRect">
            <a:avLst>
              <a:gd name="adj" fmla="val 3226"/>
            </a:avLst>
          </a:prstGeom>
          <a:solidFill>
            <a:srgbClr val="F2F8F7"/>
          </a:solidFill>
          <a:ln/>
        </p:spPr>
      </p:sp>
      <p:sp>
        <p:nvSpPr>
          <p:cNvPr id="30" name="Shape 28"/>
          <p:cNvSpPr/>
          <p:nvPr/>
        </p:nvSpPr>
        <p:spPr>
          <a:xfrm>
            <a:off x="7950708" y="192024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1" name="Shape 29"/>
          <p:cNvSpPr/>
          <p:nvPr/>
        </p:nvSpPr>
        <p:spPr>
          <a:xfrm>
            <a:off x="8126273" y="2117750"/>
            <a:ext cx="380390" cy="277978"/>
          </a:xfrm>
          <a:prstGeom prst="roundRect">
            <a:avLst>
              <a:gd name="adj" fmla="val 19737"/>
            </a:avLst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 rot="10800000">
            <a:off x="8232782" y="2324917"/>
            <a:ext cx="83686" cy="77834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7406640" y="3090672"/>
            <a:ext cx="18196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assistant.py + Gemini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424928" y="361188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grounds the model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9317736" y="2286000"/>
            <a:ext cx="219456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555480" y="2971800"/>
            <a:ext cx="1965960" cy="1417320"/>
          </a:xfrm>
          <a:prstGeom prst="roundRect">
            <a:avLst>
              <a:gd name="adj" fmla="val 3226"/>
            </a:avLst>
          </a:prstGeom>
          <a:solidFill>
            <a:srgbClr val="F2F8F7"/>
          </a:solidFill>
          <a:ln/>
        </p:spPr>
      </p:sp>
      <p:sp>
        <p:nvSpPr>
          <p:cNvPr id="37" name="Shape 35"/>
          <p:cNvSpPr/>
          <p:nvPr/>
        </p:nvSpPr>
        <p:spPr>
          <a:xfrm>
            <a:off x="10172700" y="192024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8" name="Shape 36"/>
          <p:cNvSpPr/>
          <p:nvPr/>
        </p:nvSpPr>
        <p:spPr>
          <a:xfrm>
            <a:off x="10333634" y="2139696"/>
            <a:ext cx="409651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9" name="Shape 37"/>
          <p:cNvSpPr/>
          <p:nvPr/>
        </p:nvSpPr>
        <p:spPr>
          <a:xfrm>
            <a:off x="10436047" y="2249424"/>
            <a:ext cx="58522" cy="5852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0" name="Shape 38"/>
          <p:cNvSpPr/>
          <p:nvPr/>
        </p:nvSpPr>
        <p:spPr>
          <a:xfrm>
            <a:off x="10553090" y="2220163"/>
            <a:ext cx="58522" cy="5852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1" name="Shape 39"/>
          <p:cNvSpPr/>
          <p:nvPr/>
        </p:nvSpPr>
        <p:spPr>
          <a:xfrm>
            <a:off x="10655503" y="2271370"/>
            <a:ext cx="58522" cy="5852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9628632" y="3090672"/>
            <a:ext cx="18196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/ Reports UI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9646920" y="361188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charts + AI narrative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822960" y="5212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idea as retrieval-augmented generation (RAG) — just with computed statistics standing in for retrieved documents.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Numera  ·  Pocket CA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entirely on free tiers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3200400"/>
          </a:xfrm>
          <a:prstGeom prst="roundRect">
            <a:avLst>
              <a:gd name="adj" fmla="val 2105"/>
            </a:avLst>
          </a:prstGeom>
          <a:solidFill>
            <a:srgbClr val="F2F8F7"/>
          </a:solidFill>
          <a:ln/>
        </p:spPr>
      </p:sp>
      <p:sp>
        <p:nvSpPr>
          <p:cNvPr id="5" name="Shape 3"/>
          <p:cNvSpPr/>
          <p:nvPr/>
        </p:nvSpPr>
        <p:spPr>
          <a:xfrm>
            <a:off x="1531620" y="201168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1672438" y="2203704"/>
            <a:ext cx="358445" cy="2560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1762049" y="2299716"/>
            <a:ext cx="51206" cy="5120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1864462" y="2274113"/>
            <a:ext cx="51206" cy="5120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1954073" y="2318918"/>
            <a:ext cx="51206" cy="5120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8803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329184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framework with custom CSS ledger theme and themed chat avatars.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10712" y="1691640"/>
            <a:ext cx="2606040" cy="3200400"/>
          </a:xfrm>
          <a:prstGeom prst="roundRect">
            <a:avLst>
              <a:gd name="adj" fmla="val 2105"/>
            </a:avLst>
          </a:prstGeom>
          <a:solidFill>
            <a:srgbClr val="F2F8F7"/>
          </a:solidFill>
          <a:ln/>
        </p:spPr>
      </p:sp>
      <p:sp>
        <p:nvSpPr>
          <p:cNvPr id="13" name="Shape 11"/>
          <p:cNvSpPr/>
          <p:nvPr/>
        </p:nvSpPr>
        <p:spPr>
          <a:xfrm>
            <a:off x="4393692" y="201168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Shape 12"/>
          <p:cNvSpPr/>
          <p:nvPr/>
        </p:nvSpPr>
        <p:spPr>
          <a:xfrm>
            <a:off x="4547311" y="2184502"/>
            <a:ext cx="332842" cy="243230"/>
          </a:xfrm>
          <a:prstGeom prst="roundRect">
            <a:avLst>
              <a:gd name="adj" fmla="val 22556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 rot="10800000">
            <a:off x="4640507" y="2365772"/>
            <a:ext cx="73225" cy="68105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3547872" y="28803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API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593592" y="329184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gemini-3.5-flash via the google-genai SDK — free tier, no billing.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72784" y="1691640"/>
            <a:ext cx="2606040" cy="3200400"/>
          </a:xfrm>
          <a:prstGeom prst="roundRect">
            <a:avLst>
              <a:gd name="adj" fmla="val 2105"/>
            </a:avLst>
          </a:prstGeom>
          <a:solidFill>
            <a:srgbClr val="F2F8F7"/>
          </a:solidFill>
          <a:ln/>
        </p:spPr>
      </p:sp>
      <p:sp>
        <p:nvSpPr>
          <p:cNvPr id="19" name="Shape 17"/>
          <p:cNvSpPr/>
          <p:nvPr/>
        </p:nvSpPr>
        <p:spPr>
          <a:xfrm>
            <a:off x="7255764" y="201168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Shape 18"/>
          <p:cNvSpPr/>
          <p:nvPr/>
        </p:nvSpPr>
        <p:spPr>
          <a:xfrm>
            <a:off x="7434986" y="2357323"/>
            <a:ext cx="76810" cy="11521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7537399" y="2254910"/>
            <a:ext cx="76810" cy="21762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7639812" y="2152498"/>
            <a:ext cx="7681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9944" y="28803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55664" y="329184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financial calculation: totals, trends, categorization, search.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134856" y="1691640"/>
            <a:ext cx="2606040" cy="3200400"/>
          </a:xfrm>
          <a:prstGeom prst="roundRect">
            <a:avLst>
              <a:gd name="adj" fmla="val 2105"/>
            </a:avLst>
          </a:prstGeom>
          <a:solidFill>
            <a:srgbClr val="F2F8F7"/>
          </a:solidFill>
          <a:ln/>
        </p:spPr>
      </p:sp>
      <p:sp>
        <p:nvSpPr>
          <p:cNvPr id="26" name="Shape 24"/>
          <p:cNvSpPr/>
          <p:nvPr/>
        </p:nvSpPr>
        <p:spPr>
          <a:xfrm>
            <a:off x="10117836" y="201168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7" name="Shape 25"/>
          <p:cNvSpPr/>
          <p:nvPr/>
        </p:nvSpPr>
        <p:spPr>
          <a:xfrm>
            <a:off x="10277856" y="2133295"/>
            <a:ext cx="320040" cy="3968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335463" y="2244413"/>
            <a:ext cx="204826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335463" y="2311878"/>
            <a:ext cx="204826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335463" y="2379342"/>
            <a:ext cx="204826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272016" y="28803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317736" y="329184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Donut, line, and bar charts, custom-themed to match the app.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Numera  ·  Pocket CA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steps, every time a question is asked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733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1636776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325880" y="1984248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9D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CSV/XLSX parsed; missing categories auto-assigned; dates bucketed by month.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92608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9077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5880" y="2871216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context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325880" y="3218688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9D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_build_data_context() runs real pandas math before every reply.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416052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1422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5880" y="4105656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construction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325880" y="4453128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9D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JSON injected as a “DATA CONTEXT” block for Gemini.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09360" y="169164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16733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995160" y="1636776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history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995160" y="1984248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9D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turns passed to client.chats.create() for coherent multi-turn chat.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09360" y="292608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29077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95160" y="2871216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tab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995160" y="3218688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9D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functions power KPI cards, Plotly charts, and a one-shot narrative.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09360" y="416052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41422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995160" y="4105656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theming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995160" y="4453128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9D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theme.py styles the UI and charts to match the ledger identity.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F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Numera  ·  Pocket CA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PRIVACY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hard-coded keys. No persisted data.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Shape 3"/>
          <p:cNvSpPr/>
          <p:nvPr/>
        </p:nvSpPr>
        <p:spPr>
          <a:xfrm>
            <a:off x="832104" y="2044598"/>
            <a:ext cx="256032" cy="204826"/>
          </a:xfrm>
          <a:prstGeom prst="rect">
            <a:avLst>
              <a:gd name="adj" fmla="val 13393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870509" y="1890979"/>
            <a:ext cx="179222" cy="192024"/>
          </a:xfrm>
          <a:prstGeom prst="arc">
            <a:avLst>
              <a:gd name="adj1" fmla="val 10800000"/>
              <a:gd name="adj2" fmla="val 21600000"/>
            </a:avLst>
          </a:prstGeom>
          <a:ln w="7112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08760" y="171907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handling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2084832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API key is read from st.secrets or environment variables, or typed into a password-masked sidebar field at runtime — never hard-coded.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15468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Shape 8"/>
          <p:cNvSpPr/>
          <p:nvPr/>
        </p:nvSpPr>
        <p:spPr>
          <a:xfrm>
            <a:off x="832104" y="3308299"/>
            <a:ext cx="256032" cy="332842"/>
          </a:xfrm>
          <a:prstGeom prst="pentagon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508760" y="313639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excluded from git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508760" y="3502152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.streamlit/secrets.toml is git-ignored; only a harmless secrets.toml.example template is committed.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57200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Shape 12"/>
          <p:cNvSpPr/>
          <p:nvPr/>
        </p:nvSpPr>
        <p:spPr>
          <a:xfrm>
            <a:off x="793699" y="4815230"/>
            <a:ext cx="332842" cy="217627"/>
          </a:xfrm>
          <a:prstGeom prst="rect">
            <a:avLst>
              <a:gd name="adj" fmla="val 8403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793699" y="4764024"/>
            <a:ext cx="140818" cy="64008"/>
          </a:xfrm>
          <a:prstGeom prst="rect">
            <a:avLst>
              <a:gd name="adj" fmla="val 28571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1508760" y="455371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Session-only data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4919472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 transactions live only in st.session_state for the current session — nothing written to disk or a database.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Numera  ·  Pocket CA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Numera goes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1828800"/>
          </a:xfrm>
          <a:prstGeom prst="roundRect">
            <a:avLst>
              <a:gd name="adj" fmla="val 3000"/>
            </a:avLst>
          </a:prstGeom>
          <a:solidFill>
            <a:srgbClr val="F2F8F7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892808"/>
            <a:ext cx="475488" cy="47548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983151"/>
            <a:ext cx="237744" cy="294803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1474" y="2065695"/>
            <a:ext cx="152156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1474" y="2115812"/>
            <a:ext cx="152156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1474" y="2165928"/>
            <a:ext cx="152156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468880"/>
            <a:ext cx="3209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export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49808" y="2788920"/>
            <a:ext cx="3209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currently export to Markdown only.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89120" y="1691640"/>
            <a:ext cx="3611880" cy="1828800"/>
          </a:xfrm>
          <a:prstGeom prst="roundRect">
            <a:avLst>
              <a:gd name="adj" fmla="val 3000"/>
            </a:avLst>
          </a:prstGeom>
          <a:solidFill>
            <a:srgbClr val="F2F8F7"/>
          </a:solidFill>
          <a:ln/>
        </p:spPr>
      </p:sp>
      <p:sp>
        <p:nvSpPr>
          <p:cNvPr id="13" name="Shape 11"/>
          <p:cNvSpPr/>
          <p:nvPr/>
        </p:nvSpPr>
        <p:spPr>
          <a:xfrm>
            <a:off x="4590288" y="1892808"/>
            <a:ext cx="475488" cy="47548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Shape 12"/>
          <p:cNvSpPr/>
          <p:nvPr/>
        </p:nvSpPr>
        <p:spPr>
          <a:xfrm>
            <a:off x="4713915" y="2016435"/>
            <a:ext cx="228234" cy="228234"/>
          </a:xfrm>
          <a:prstGeom prst="ellipse">
            <a:avLst/>
          </a:prstGeom>
          <a:ln w="39624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90288" y="2468880"/>
            <a:ext cx="3209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Multi-currency support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90288" y="2788920"/>
            <a:ext cx="3209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transactions across more than one currency.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229600" y="1691640"/>
            <a:ext cx="3611880" cy="1828800"/>
          </a:xfrm>
          <a:prstGeom prst="roundRect">
            <a:avLst>
              <a:gd name="adj" fmla="val 3000"/>
            </a:avLst>
          </a:prstGeom>
          <a:solidFill>
            <a:srgbClr val="F2F8F7"/>
          </a:solidFill>
          <a:ln/>
        </p:spPr>
      </p:sp>
      <p:sp>
        <p:nvSpPr>
          <p:cNvPr id="18" name="Shape 16"/>
          <p:cNvSpPr/>
          <p:nvPr/>
        </p:nvSpPr>
        <p:spPr>
          <a:xfrm>
            <a:off x="8430768" y="1892808"/>
            <a:ext cx="475488" cy="47548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9" name="Shape 17"/>
          <p:cNvSpPr/>
          <p:nvPr/>
        </p:nvSpPr>
        <p:spPr>
          <a:xfrm>
            <a:off x="8573414" y="2006925"/>
            <a:ext cx="190195" cy="247254"/>
          </a:xfrm>
          <a:prstGeom prst="pentagon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8430768" y="2468880"/>
            <a:ext cx="3209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alerts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430768" y="2788920"/>
            <a:ext cx="3209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warnings when spending nears a set budget.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3794760"/>
            <a:ext cx="3611880" cy="1828800"/>
          </a:xfrm>
          <a:prstGeom prst="roundRect">
            <a:avLst>
              <a:gd name="adj" fmla="val 3000"/>
            </a:avLst>
          </a:prstGeom>
          <a:solidFill>
            <a:srgbClr val="F2F8F7"/>
          </a:solidFill>
          <a:ln/>
        </p:spPr>
      </p:sp>
      <p:sp>
        <p:nvSpPr>
          <p:cNvPr id="23" name="Shape 21"/>
          <p:cNvSpPr/>
          <p:nvPr/>
        </p:nvSpPr>
        <p:spPr>
          <a:xfrm>
            <a:off x="749808" y="3995928"/>
            <a:ext cx="475488" cy="47548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4" name="Shape 22"/>
          <p:cNvSpPr/>
          <p:nvPr/>
        </p:nvSpPr>
        <p:spPr>
          <a:xfrm>
            <a:off x="863925" y="4176613"/>
            <a:ext cx="247254" cy="161666"/>
          </a:xfrm>
          <a:prstGeom prst="rect">
            <a:avLst>
              <a:gd name="adj" fmla="val 11312"/>
            </a:avLst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863925" y="4138574"/>
            <a:ext cx="104607" cy="47549"/>
          </a:xfrm>
          <a:prstGeom prst="rect">
            <a:avLst>
              <a:gd name="adj" fmla="val 38461"/>
            </a:avLst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4572000"/>
            <a:ext cx="3209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storage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49808" y="4892040"/>
            <a:ext cx="3209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transaction history across sessions, not just in-memory.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389120" y="3794760"/>
            <a:ext cx="3611880" cy="1828800"/>
          </a:xfrm>
          <a:prstGeom prst="roundRect">
            <a:avLst>
              <a:gd name="adj" fmla="val 3000"/>
            </a:avLst>
          </a:prstGeom>
          <a:solidFill>
            <a:srgbClr val="F2F8F7"/>
          </a:solidFill>
          <a:ln/>
        </p:spPr>
      </p:sp>
      <p:sp>
        <p:nvSpPr>
          <p:cNvPr id="29" name="Shape 27"/>
          <p:cNvSpPr/>
          <p:nvPr/>
        </p:nvSpPr>
        <p:spPr>
          <a:xfrm>
            <a:off x="4590288" y="3995928"/>
            <a:ext cx="475488" cy="47548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0" name="Shape 28"/>
          <p:cNvSpPr/>
          <p:nvPr/>
        </p:nvSpPr>
        <p:spPr>
          <a:xfrm>
            <a:off x="4761464" y="4129065"/>
            <a:ext cx="133137" cy="114117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4804258" y="4224162"/>
            <a:ext cx="47549" cy="10460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4713915" y="4357299"/>
            <a:ext cx="228234" cy="332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4590288" y="4572000"/>
            <a:ext cx="3209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statement PDF parsing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4590288" y="4892040"/>
            <a:ext cx="3209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bank statements directly instead of CSV/XLSX only.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229600" y="3794760"/>
            <a:ext cx="3611880" cy="1828800"/>
          </a:xfrm>
          <a:prstGeom prst="roundRect">
            <a:avLst>
              <a:gd name="adj" fmla="val 3000"/>
            </a:avLst>
          </a:prstGeom>
          <a:solidFill>
            <a:srgbClr val="F2F8F7"/>
          </a:solidFill>
          <a:ln/>
        </p:spPr>
      </p:sp>
      <p:sp>
        <p:nvSpPr>
          <p:cNvPr id="36" name="Shape 34"/>
          <p:cNvSpPr/>
          <p:nvPr/>
        </p:nvSpPr>
        <p:spPr>
          <a:xfrm>
            <a:off x="8430768" y="3995928"/>
            <a:ext cx="475488" cy="47548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7" name="Shape 35"/>
          <p:cNvSpPr/>
          <p:nvPr/>
        </p:nvSpPr>
        <p:spPr>
          <a:xfrm>
            <a:off x="8611453" y="4110045"/>
            <a:ext cx="114117" cy="218724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8" name="Shape 36"/>
          <p:cNvSpPr/>
          <p:nvPr/>
        </p:nvSpPr>
        <p:spPr>
          <a:xfrm>
            <a:off x="8639983" y="4195633"/>
            <a:ext cx="57059" cy="57059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8430768" y="4572000"/>
            <a:ext cx="3209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polish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8430768" y="4892040"/>
            <a:ext cx="3209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insights and theming as the project matures.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Numera  ·  Pocket CA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114800" cy="4114800"/>
          </a:xfrm>
          <a:prstGeom prst="ellipse">
            <a:avLst/>
          </a:prstGeom>
          <a:solidFill>
            <a:srgbClr val="012A2E"/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-822960"/>
            <a:ext cx="2377440" cy="23774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945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Numera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29718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financial answers, real charts, and a one-click summary — running at zero cost.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397764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Shape 5"/>
          <p:cNvSpPr/>
          <p:nvPr/>
        </p:nvSpPr>
        <p:spPr>
          <a:xfrm>
            <a:off x="996696" y="4087368"/>
            <a:ext cx="109728" cy="210312"/>
          </a:xfrm>
          <a:prstGeom prst="triangle">
            <a:avLst/>
          </a:prstGeom>
          <a:solidFill>
            <a:srgbClr val="012A2E"/>
          </a:solidFill>
          <a:ln/>
        </p:spPr>
      </p:sp>
      <p:sp>
        <p:nvSpPr>
          <p:cNvPr id="8" name="Shape 6"/>
          <p:cNvSpPr/>
          <p:nvPr/>
        </p:nvSpPr>
        <p:spPr>
          <a:xfrm>
            <a:off x="1024128" y="4169664"/>
            <a:ext cx="54864" cy="548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463040" y="39593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63040" y="4206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pocketca-egsmcmi7zpv7f8j5ttzaw4.streamlit.app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475488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Shape 10"/>
          <p:cNvSpPr/>
          <p:nvPr/>
        </p:nvSpPr>
        <p:spPr>
          <a:xfrm>
            <a:off x="996696" y="4864608"/>
            <a:ext cx="109728" cy="210312"/>
          </a:xfrm>
          <a:prstGeom prst="triangle">
            <a:avLst/>
          </a:prstGeom>
          <a:solidFill>
            <a:srgbClr val="012A2E"/>
          </a:solidFill>
          <a:ln/>
        </p:spPr>
      </p:sp>
      <p:sp>
        <p:nvSpPr>
          <p:cNvPr id="13" name="Shape 11"/>
          <p:cNvSpPr/>
          <p:nvPr/>
        </p:nvSpPr>
        <p:spPr>
          <a:xfrm>
            <a:off x="1024128" y="4946904"/>
            <a:ext cx="54864" cy="548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463040" y="473659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463040" y="4983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github.com/pujanchouhan/Pocket__CA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6126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pujanchouhan  ·  Generative AI Course  ·  27 July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2026-09-13T07:49:14Z</dcterms:created>
  <dcterms:modified xsi:type="dcterms:W3CDTF">2026-09-13T07:49:14Z</dcterms:modified>
</cp:coreProperties>
</file>